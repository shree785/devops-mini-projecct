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84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600D31-CA91-00E2-F625-7495BC12B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9FCF8DB-020B-FAFF-255C-5765466AD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57B1A8-40B4-98A1-FAE5-817B3CF7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FE127D-DEE6-3C0A-BE1C-1BFCED45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D69CE8-EAC8-663E-0205-B8285BF6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88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9599AB-3F09-2A2F-4FFF-2E963955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76B3E7-7384-4829-EE77-679D3BF13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222D44-34CC-26B4-7D7E-5F1A92FA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EE5BF2-EA72-18FB-EB69-A77EE5C0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E94EAC-6099-6973-B253-F3103F1E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40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5CDF96-3446-8D17-2228-07D72D7A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C8F6B5E-8523-66BA-ED58-0BBAEE3BB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50F6D7-E1FC-8C90-85EA-C655508A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355E0E-16F8-38A8-8E18-49EEB28A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9681EC-5B2E-1B40-2E11-5B2D0079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31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C7B1F-FAEA-B8FD-F248-40FD2CE5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5061E1-3DFD-3630-D2F5-C69ECEB65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1BB0D7B-396E-BBAF-CA1A-EC60B90CE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84B323-8765-919E-73AE-0F6C2066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3D1E07-BF80-8EDD-234D-858AA2B00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514B832-0CE6-6701-D185-B475809E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2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F39A1C-CA06-A49C-3E83-8046D47D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E92CABE-9B31-AB32-03DA-D91E8EC95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72756E4-2F12-97A4-4F33-DA605F754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BCE4900-075E-0CD0-4585-9FA7C5BEF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593B0E6-72C7-5D51-F2E7-078D97663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CE34FA0-352C-A24C-8068-D53D56E4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81D8710-F2A2-8619-F3D8-A0ABA692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2494869-A5F3-0266-E688-311C4956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2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CDABF2-271D-B5EC-D5D1-B69F90A5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9ACEAD9-4D9C-2A3F-1638-4825445F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CB202AA-AA0A-250F-C116-F37F738A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8ADE437-8A78-05EF-5D5E-A5B6C31B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75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61332D2-F4E8-AC14-8FA3-1AEE29E9E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BD0EEB8-5177-3191-B579-D1A58D5B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450BB2-B4F4-A560-E947-457DC6EA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83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DE894A-FF07-3AAE-94A8-14430E6C5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0607EF-F692-7F9C-D7E1-BB14E140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7809678-020D-5DCA-CB70-D514F0524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95E4284-F2C9-4E1F-72D2-148C067D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A618737-6FDB-F750-D289-D7E97B41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C5090E-B059-1882-CE04-7DBCAE6C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05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0E3581-78A7-A388-5F64-13914859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A83CB0D-02F0-9DC7-3B32-4D500B57507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8B7DF9B-2AA5-3763-C316-994E05BC5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174D3BB-A4E7-91D0-F0C6-E162F7F4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A101D7-3345-3AE1-8462-CA4186AF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3B60A81-6534-00ED-0BAF-F6E2A81C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0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716EE3-DFE0-6A8F-CD9F-44EAFC13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626D071-AF1B-6C5B-AE5F-93D8093B2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7B87A7-0216-22C2-933F-2D5BF59A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C174EA-2649-240D-4EA5-C610D81D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CDD59D-DA6A-DACC-82B3-AE54E42D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27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9922AD0-2D51-CBD1-CB45-106BB389C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2A690CA-8659-C331-5C3A-3E4380242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6CCB65D-A5C3-9163-3901-8F9D316A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9E8A07-F480-523A-B585-1C4B56BF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FD2928-C5A6-28B2-5CD3-717508EA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16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825FC23-401E-3834-F988-2FC31BEE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5059008-D94F-12DC-D638-A55E7FD0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47402C-225A-A2C2-2C36-1E6CD5511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7F096-4647-48E4-A06F-010696AB00C3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C8DEC0-1D28-1964-E006-71CB7F800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70B41FF-F7FD-E660-B45F-AAF919983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E4D5C-8D55-43B4-9A9F-6DDACE33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89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A3D39B7-43CD-01C7-7BE3-35D9D9CEC5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7B6DA87-EFBF-FDC9-05C5-05DAA6510F4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C05BFB4-4592-F055-99FB-13AFFEDB9F32}"/>
              </a:ext>
            </a:extLst>
          </p:cNvPr>
          <p:cNvSpPr/>
          <p:nvPr/>
        </p:nvSpPr>
        <p:spPr>
          <a:xfrm>
            <a:off x="889000" y="952500"/>
            <a:ext cx="2921000" cy="33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EA5E9"/>
                </a:solidFill>
                <a:latin typeface="Segoe UI" panose="020B0502040204020203" pitchFamily="34" charset="0"/>
              </a:rPr>
              <a:t>DEVOPS ENGINEERING CAPSTONE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C107290-DDBB-DAC8-904D-FD29205D2DEC}"/>
              </a:ext>
            </a:extLst>
          </p:cNvPr>
          <p:cNvSpPr txBox="1"/>
          <p:nvPr/>
        </p:nvSpPr>
        <p:spPr>
          <a:xfrm>
            <a:off x="863600" y="1460500"/>
            <a:ext cx="10414000" cy="120032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Ansible-Provisioned Security
Log Review System</a:t>
            </a:r>
            <a:endParaRPr lang="en-IN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38E50FE-78F9-F7A0-41B2-689B43E595BB}"/>
              </a:ext>
            </a:extLst>
          </p:cNvPr>
          <p:cNvSpPr txBox="1"/>
          <p:nvPr/>
        </p:nvSpPr>
        <p:spPr>
          <a:xfrm>
            <a:off x="889000" y="2984500"/>
            <a:ext cx="10414000" cy="49244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End-to-End DevSecOps Automation: Spring Boot 3, GitFlow, Automated CI/CD Testing, Docker Hardening and Idempotent Ansible Orchestration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505594B-1CC9-E029-CFF1-FE78AF194B8B}"/>
              </a:ext>
            </a:extLst>
          </p:cNvPr>
          <p:cNvSpPr/>
          <p:nvPr/>
        </p:nvSpPr>
        <p:spPr>
          <a:xfrm>
            <a:off x="889000" y="4000500"/>
            <a:ext cx="5080000" cy="1841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AF32A7A-ECD9-ACEE-7026-6B81E5F21CEC}"/>
              </a:ext>
            </a:extLst>
          </p:cNvPr>
          <p:cNvSpPr txBox="1"/>
          <p:nvPr/>
        </p:nvSpPr>
        <p:spPr>
          <a:xfrm>
            <a:off x="1206500" y="4191000"/>
            <a:ext cx="4445000" cy="646331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</a:rPr>
              <a:t>
</a:t>
            </a:r>
            <a:r>
              <a:rPr lang="en-US" sz="1200" dirty="0" err="1">
                <a:solidFill>
                  <a:srgbClr val="FFFFFF"/>
                </a:solidFill>
                <a:latin typeface="Segoe UI" panose="020B0502040204020203" pitchFamily="34" charset="0"/>
              </a:rPr>
              <a:t>Amogh</a:t>
            </a: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anose="020B0502040204020203" pitchFamily="34" charset="0"/>
              </a:rPr>
              <a:t>Kulkarni</a:t>
            </a: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</a:rPr>
              <a:t>
Roll No: </a:t>
            </a:r>
            <a:r>
              <a:rPr lang="en-US" sz="1200" dirty="0" smtClean="0">
                <a:solidFill>
                  <a:srgbClr val="FFFFFF"/>
                </a:solidFill>
                <a:latin typeface="Segoe UI" panose="020B0502040204020203" pitchFamily="34" charset="0"/>
              </a:rPr>
              <a:t>23102C0003</a:t>
            </a:r>
            <a:endParaRPr lang="en-IN" sz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800FC79-1A2C-96EF-2619-286D78E562A6}"/>
              </a:ext>
            </a:extLst>
          </p:cNvPr>
          <p:cNvSpPr/>
          <p:nvPr/>
        </p:nvSpPr>
        <p:spPr>
          <a:xfrm>
            <a:off x="6223000" y="4000500"/>
            <a:ext cx="5080000" cy="1841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A613FE8-79D2-D5B4-D68D-8EA3497E29E4}"/>
              </a:ext>
            </a:extLst>
          </p:cNvPr>
          <p:cNvSpPr txBox="1"/>
          <p:nvPr/>
        </p:nvSpPr>
        <p:spPr>
          <a:xfrm>
            <a:off x="6540500" y="4191000"/>
            <a:ext cx="4445000" cy="938719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KEY PROJECT HIGHLIGHTS
* 14 Fully Realized DevOps Milestones
* 100% Automated Quality Gate (15 JUnit + Selenium)
* 166 MB Alpine Hardened Container
* Verified Idempotent Ansible Deployment (changed=0)</a:t>
            </a:r>
            <a:endParaRPr lang="en-IN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C6E5DCA-6D92-C827-3638-870FBE1D4E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A851177-3E38-A52A-31DE-8106506F8A4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7F8E045-CD93-76F4-B545-EAE15E8E2078}"/>
              </a:ext>
            </a:extLst>
          </p:cNvPr>
          <p:cNvSpPr/>
          <p:nvPr/>
        </p:nvSpPr>
        <p:spPr>
          <a:xfrm>
            <a:off x="508000" y="304800"/>
            <a:ext cx="2032000" cy="279400"/>
          </a:xfrm>
          <a:prstGeom prst="rect">
            <a:avLst/>
          </a:prstGeom>
          <a:solidFill>
            <a:srgbClr val="E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2563EB"/>
                </a:solidFill>
                <a:latin typeface="Segoe UI" panose="020B0502040204020203" pitchFamily="34" charset="0"/>
              </a:rPr>
              <a:t>PROJECT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5EFA4D-1B2C-2B69-18B9-8AA4FCCB5AF8}"/>
              </a:ext>
            </a:extLst>
          </p:cNvPr>
          <p:cNvSpPr txBox="1"/>
          <p:nvPr/>
        </p:nvSpPr>
        <p:spPr>
          <a:xfrm>
            <a:off x="482600" y="635000"/>
            <a:ext cx="9525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200" b="1">
                <a:solidFill>
                  <a:srgbClr val="0F172A"/>
                </a:solidFill>
                <a:latin typeface="Segoe UI" panose="020B0502040204020203" pitchFamily="34" charset="0"/>
              </a:rPr>
              <a:t>Problem Statement and Project Objectives</a:t>
            </a:r>
            <a:endParaRPr lang="en-IN" sz="2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E0F3EA3-0918-AA83-4C2A-F786BB114D47}"/>
              </a:ext>
            </a:extLst>
          </p:cNvPr>
          <p:cNvSpPr/>
          <p:nvPr/>
        </p:nvSpPr>
        <p:spPr>
          <a:xfrm>
            <a:off x="10922000" y="304800"/>
            <a:ext cx="762000" cy="3048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94A3B8"/>
                </a:solidFill>
                <a:latin typeface="Segoe UI" panose="020B0502040204020203" pitchFamily="34" charset="0"/>
              </a:rPr>
              <a:t>2 /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C7DE082-5DA4-51E3-6307-46298AD75A18}"/>
              </a:ext>
            </a:extLst>
          </p:cNvPr>
          <p:cNvSpPr txBox="1"/>
          <p:nvPr/>
        </p:nvSpPr>
        <p:spPr>
          <a:xfrm>
            <a:off x="508000" y="6477000"/>
            <a:ext cx="1117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DevSecOps Capstone Project | Amogh Kulkarni (23102C0003)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57F034D-9C85-935A-DCFF-1B62BABA2033}"/>
              </a:ext>
            </a:extLst>
          </p:cNvPr>
          <p:cNvSpPr/>
          <p:nvPr/>
        </p:nvSpPr>
        <p:spPr>
          <a:xfrm>
            <a:off x="5080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B470D71-8E52-9004-67E0-3B48E24992C7}"/>
              </a:ext>
            </a:extLst>
          </p:cNvPr>
          <p:cNvSpPr/>
          <p:nvPr/>
        </p:nvSpPr>
        <p:spPr>
          <a:xfrm>
            <a:off x="508000" y="1333500"/>
            <a:ext cx="63500" cy="4889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6B7F325-F36D-3516-0C28-E62C57B17E2E}"/>
              </a:ext>
            </a:extLst>
          </p:cNvPr>
          <p:cNvSpPr txBox="1"/>
          <p:nvPr/>
        </p:nvSpPr>
        <p:spPr>
          <a:xfrm>
            <a:off x="7620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The Security Operations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A4B9A7A-E5FE-4468-9F20-41B0848AF267}"/>
              </a:ext>
            </a:extLst>
          </p:cNvPr>
          <p:cNvSpPr txBox="1"/>
          <p:nvPr/>
        </p:nvSpPr>
        <p:spPr>
          <a:xfrm>
            <a:off x="7620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•  Alert Fatigue: SOC analysts are overwhelmed by millions of raw, heterogeneous log lines daily with no unified triage.
•  Delayed Incident Response: High-severity intrusion attempts go unnoticed due to slow manual log parsing.
•  Manual Deployment Risk: Traditional server provisioning results in configuration drift and high operational downtime.
•  Lack of Automated Quality Gates: Vulnerable code frequently bypasses manual reviews into production environments.</a:t>
            </a:r>
            <a:endParaRPr lang="en-IN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073AD14-EA20-61FD-51D1-41EA3AA567DA}"/>
              </a:ext>
            </a:extLst>
          </p:cNvPr>
          <p:cNvSpPr/>
          <p:nvPr/>
        </p:nvSpPr>
        <p:spPr>
          <a:xfrm>
            <a:off x="62865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6897357-78FC-9BC1-3D18-1D91EE1A1D7F}"/>
              </a:ext>
            </a:extLst>
          </p:cNvPr>
          <p:cNvSpPr/>
          <p:nvPr/>
        </p:nvSpPr>
        <p:spPr>
          <a:xfrm>
            <a:off x="6286500" y="1333500"/>
            <a:ext cx="63500" cy="4889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C504D8-D608-B97F-3E31-6FC5B623018A}"/>
              </a:ext>
            </a:extLst>
          </p:cNvPr>
          <p:cNvSpPr txBox="1"/>
          <p:nvPr/>
        </p:nvSpPr>
        <p:spPr>
          <a:xfrm>
            <a:off x="65405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Core Engineering 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7B50E84-362A-1F0F-7DE5-BFDBA79BBCF6}"/>
              </a:ext>
            </a:extLst>
          </p:cNvPr>
          <p:cNvSpPr txBox="1"/>
          <p:nvPr/>
        </p:nvSpPr>
        <p:spPr>
          <a:xfrm>
            <a:off x="65405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Automated Log Ingestion: Real-time parsing, classification, and severity-tagging (CRITICAL, WARN, INFO).
•  Continuous Quality Assurance: Full CI pipeline executing 15 unit tests and Selenium browser testing before build.
•  Production-Ready Containerization: Multi-stage lightweight Alpine image running as non-root service account.
•  Zero-Drift Orchestration: Complete Ansible automation with verified idempotency (changed=0) and 15s rollback.</a:t>
            </a:r>
          </a:p>
        </p:txBody>
      </p:sp>
    </p:spTree>
    <p:extLst>
      <p:ext uri="{BB962C8B-B14F-4D97-AF65-F5344CB8AC3E}">
        <p14:creationId xmlns:p14="http://schemas.microsoft.com/office/powerpoint/2010/main" val="301933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429B6F9-7406-8777-EF8C-0A2540DB75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9F0B45C-3D96-92DB-948F-F575BDA0500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737F533-75D3-C592-302C-6DBC5E78B453}"/>
              </a:ext>
            </a:extLst>
          </p:cNvPr>
          <p:cNvSpPr/>
          <p:nvPr/>
        </p:nvSpPr>
        <p:spPr>
          <a:xfrm>
            <a:off x="508000" y="304800"/>
            <a:ext cx="2032000" cy="279400"/>
          </a:xfrm>
          <a:prstGeom prst="rect">
            <a:avLst/>
          </a:prstGeom>
          <a:solidFill>
            <a:srgbClr val="E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2563EB"/>
                </a:solidFill>
                <a:latin typeface="Segoe UI" panose="020B0502040204020203" pitchFamily="34" charset="0"/>
              </a:rPr>
              <a:t>SYSTEM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4B60B95-F351-77BD-0BA1-28E20F37F184}"/>
              </a:ext>
            </a:extLst>
          </p:cNvPr>
          <p:cNvSpPr txBox="1"/>
          <p:nvPr/>
        </p:nvSpPr>
        <p:spPr>
          <a:xfrm>
            <a:off x="482600" y="635000"/>
            <a:ext cx="9525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200" b="1">
                <a:solidFill>
                  <a:srgbClr val="0F172A"/>
                </a:solidFill>
                <a:latin typeface="Segoe UI" panose="020B0502040204020203" pitchFamily="34" charset="0"/>
              </a:rPr>
              <a:t>System Architecture and Core Technology Stack</a:t>
            </a:r>
            <a:endParaRPr lang="en-IN" sz="2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3F70331-D318-F2D0-06A7-992C10E9C6DC}"/>
              </a:ext>
            </a:extLst>
          </p:cNvPr>
          <p:cNvSpPr/>
          <p:nvPr/>
        </p:nvSpPr>
        <p:spPr>
          <a:xfrm>
            <a:off x="10922000" y="304800"/>
            <a:ext cx="762000" cy="3048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94A3B8"/>
                </a:solidFill>
                <a:latin typeface="Segoe UI" panose="020B0502040204020203" pitchFamily="34" charset="0"/>
              </a:rPr>
              <a:t>3 /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67426B8-79FD-8BE2-0A1C-4071F0F48CC6}"/>
              </a:ext>
            </a:extLst>
          </p:cNvPr>
          <p:cNvSpPr txBox="1"/>
          <p:nvPr/>
        </p:nvSpPr>
        <p:spPr>
          <a:xfrm>
            <a:off x="508000" y="6477000"/>
            <a:ext cx="1117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DevSecOps Capstone Project | Amogh Kulkarni (23102C0003)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E41E16B-55D1-B299-E55E-5E4341F51C06}"/>
              </a:ext>
            </a:extLst>
          </p:cNvPr>
          <p:cNvSpPr/>
          <p:nvPr/>
        </p:nvSpPr>
        <p:spPr>
          <a:xfrm>
            <a:off x="508000" y="1333500"/>
            <a:ext cx="3492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958AB3B-FB2C-D01E-47F0-11BE75EFBCC4}"/>
              </a:ext>
            </a:extLst>
          </p:cNvPr>
          <p:cNvSpPr/>
          <p:nvPr/>
        </p:nvSpPr>
        <p:spPr>
          <a:xfrm>
            <a:off x="508000" y="1333500"/>
            <a:ext cx="63500" cy="4889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165A491-93A6-A620-2C4E-6AD7E777EB0A}"/>
              </a:ext>
            </a:extLst>
          </p:cNvPr>
          <p:cNvSpPr txBox="1"/>
          <p:nvPr/>
        </p:nvSpPr>
        <p:spPr>
          <a:xfrm>
            <a:off x="762000" y="1524000"/>
            <a:ext cx="3048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Backend and Core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704C0F5-F9B6-A61A-312A-5DF55B711CC2}"/>
              </a:ext>
            </a:extLst>
          </p:cNvPr>
          <p:cNvSpPr txBox="1"/>
          <p:nvPr/>
        </p:nvSpPr>
        <p:spPr>
          <a:xfrm>
            <a:off x="762000" y="1943100"/>
            <a:ext cx="3048000" cy="207749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Spring Boot 3.2.x: Modern microservice framework with Java 17 LTS support.
•  Embedded Tomcat 10: High-throughput HTTP container optimized for cloud deployments.
•  Spring Security: Role-based access control protecting triage and admin routes.
•  Actuator: Production telemetry exposing /health, /info, and /metrics endpoints.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AF1DCB3-6E91-323C-FD1E-2871377AB5E7}"/>
              </a:ext>
            </a:extLst>
          </p:cNvPr>
          <p:cNvSpPr/>
          <p:nvPr/>
        </p:nvSpPr>
        <p:spPr>
          <a:xfrm>
            <a:off x="4318000" y="1333500"/>
            <a:ext cx="3492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BD044B3-1639-5BAF-F1A3-477DE86E6779}"/>
              </a:ext>
            </a:extLst>
          </p:cNvPr>
          <p:cNvSpPr/>
          <p:nvPr/>
        </p:nvSpPr>
        <p:spPr>
          <a:xfrm>
            <a:off x="4318000" y="1333500"/>
            <a:ext cx="63500" cy="4889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22A25B6-0EDA-3A5C-4F5D-030AE961D794}"/>
              </a:ext>
            </a:extLst>
          </p:cNvPr>
          <p:cNvSpPr txBox="1"/>
          <p:nvPr/>
        </p:nvSpPr>
        <p:spPr>
          <a:xfrm>
            <a:off x="4572000" y="1524000"/>
            <a:ext cx="3048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Data and Presentation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DFDB91A-C615-5D76-4495-EACD21C7BF32}"/>
              </a:ext>
            </a:extLst>
          </p:cNvPr>
          <p:cNvSpPr txBox="1"/>
          <p:nvPr/>
        </p:nvSpPr>
        <p:spPr>
          <a:xfrm>
            <a:off x="4572000" y="1943100"/>
            <a:ext cx="3048000" cy="207749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In-Memory H2 DB: Zero external dependency, sub-millisecond query execution for forensic review.
•  JPA / Hibernate: Efficient ORM data models mapping security event streams.
•  Thymeleaf 3: Server-side rendering delivering fast, responsive views.
•  Bootstrap 5: Dark/light interactive dashboards with instant filter controls.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01EDDFC-9CC9-FB45-BD4D-6BC95455169B}"/>
              </a:ext>
            </a:extLst>
          </p:cNvPr>
          <p:cNvSpPr/>
          <p:nvPr/>
        </p:nvSpPr>
        <p:spPr>
          <a:xfrm>
            <a:off x="8128000" y="1333500"/>
            <a:ext cx="3492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ABE6291-1C71-B753-CE24-B7A7408AE8F0}"/>
              </a:ext>
            </a:extLst>
          </p:cNvPr>
          <p:cNvSpPr/>
          <p:nvPr/>
        </p:nvSpPr>
        <p:spPr>
          <a:xfrm>
            <a:off x="8128000" y="1333500"/>
            <a:ext cx="63500" cy="48895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8E57A39-8329-DDB3-8D5B-2BD75D5072F9}"/>
              </a:ext>
            </a:extLst>
          </p:cNvPr>
          <p:cNvSpPr txBox="1"/>
          <p:nvPr/>
        </p:nvSpPr>
        <p:spPr>
          <a:xfrm>
            <a:off x="8382000" y="1524000"/>
            <a:ext cx="3048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DevOps and Toolchain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C92B30-182B-E8B7-78B1-0A8352974176}"/>
              </a:ext>
            </a:extLst>
          </p:cNvPr>
          <p:cNvSpPr txBox="1"/>
          <p:nvPr/>
        </p:nvSpPr>
        <p:spPr>
          <a:xfrm>
            <a:off x="8382000" y="1943100"/>
            <a:ext cx="3048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Maven: Multi-phase build management with reproducible artifact packaging.
•  GitFlow: Structured branching (feature to develop to main) with branch protection.
•  Docker: Multi-stage Alpine containerization for minimal attack surface.
•  Ansible: Declarative IaC automating deployment, config, and rollback.</a:t>
            </a:r>
          </a:p>
        </p:txBody>
      </p:sp>
    </p:spTree>
    <p:extLst>
      <p:ext uri="{BB962C8B-B14F-4D97-AF65-F5344CB8AC3E}">
        <p14:creationId xmlns:p14="http://schemas.microsoft.com/office/powerpoint/2010/main" val="137627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EB12308-DD5D-BA1E-0E76-6875744861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6317EDD-F7FB-7666-9CC5-B5014C26923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6080BC4-7877-1A2B-CD47-524315267A52}"/>
              </a:ext>
            </a:extLst>
          </p:cNvPr>
          <p:cNvSpPr/>
          <p:nvPr/>
        </p:nvSpPr>
        <p:spPr>
          <a:xfrm>
            <a:off x="508000" y="304800"/>
            <a:ext cx="2032000" cy="279400"/>
          </a:xfrm>
          <a:prstGeom prst="rect">
            <a:avLst/>
          </a:prstGeom>
          <a:solidFill>
            <a:srgbClr val="E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2563EB"/>
                </a:solidFill>
                <a:latin typeface="Segoe UI" panose="020B0502040204020203" pitchFamily="34" charset="0"/>
              </a:rPr>
              <a:t>QUALITY ASSURANCE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2BC3FC-6517-D82D-D538-DBB01B201312}"/>
              </a:ext>
            </a:extLst>
          </p:cNvPr>
          <p:cNvSpPr txBox="1"/>
          <p:nvPr/>
        </p:nvSpPr>
        <p:spPr>
          <a:xfrm>
            <a:off x="482600" y="635000"/>
            <a:ext cx="9525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200" b="1">
                <a:solidFill>
                  <a:srgbClr val="0F172A"/>
                </a:solidFill>
                <a:latin typeface="Segoe UI" panose="020B0502040204020203" pitchFamily="34" charset="0"/>
              </a:rPr>
              <a:t>CI/CD Pipeline and Automated Testing Quality Gates</a:t>
            </a:r>
            <a:endParaRPr lang="en-IN" sz="2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015F153-064F-6B90-9BBE-C547CA945AA0}"/>
              </a:ext>
            </a:extLst>
          </p:cNvPr>
          <p:cNvSpPr/>
          <p:nvPr/>
        </p:nvSpPr>
        <p:spPr>
          <a:xfrm>
            <a:off x="10922000" y="304800"/>
            <a:ext cx="762000" cy="3048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94A3B8"/>
                </a:solidFill>
                <a:latin typeface="Segoe UI" panose="020B0502040204020203" pitchFamily="34" charset="0"/>
              </a:rPr>
              <a:t>4 /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DEF8DAC-B289-EB28-6764-D4EB723F4A26}"/>
              </a:ext>
            </a:extLst>
          </p:cNvPr>
          <p:cNvSpPr txBox="1"/>
          <p:nvPr/>
        </p:nvSpPr>
        <p:spPr>
          <a:xfrm>
            <a:off x="508000" y="6477000"/>
            <a:ext cx="1117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DevSecOps Capstone Project | Amogh Kulkarni (23102C0003)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E533074-E8C8-ED9C-980A-BA37A30994CF}"/>
              </a:ext>
            </a:extLst>
          </p:cNvPr>
          <p:cNvSpPr/>
          <p:nvPr/>
        </p:nvSpPr>
        <p:spPr>
          <a:xfrm>
            <a:off x="5080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A86541E-9658-8E3E-854D-551B636783FA}"/>
              </a:ext>
            </a:extLst>
          </p:cNvPr>
          <p:cNvSpPr/>
          <p:nvPr/>
        </p:nvSpPr>
        <p:spPr>
          <a:xfrm>
            <a:off x="508000" y="1333500"/>
            <a:ext cx="63500" cy="4889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802BDB-CEDB-D579-6269-B5EE306F3207}"/>
              </a:ext>
            </a:extLst>
          </p:cNvPr>
          <p:cNvSpPr txBox="1"/>
          <p:nvPr/>
        </p:nvSpPr>
        <p:spPr>
          <a:xfrm>
            <a:off x="7620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Continuous Integration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6A98A9E-B399-16CF-678F-A0D5D7BFCEDA}"/>
              </a:ext>
            </a:extLst>
          </p:cNvPr>
          <p:cNvSpPr txBox="1"/>
          <p:nvPr/>
        </p:nvSpPr>
        <p:spPr>
          <a:xfrm>
            <a:off x="7620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•  Jenkins Declarative Pipeline: Fully automated stages for Checkout, Build, Unit Test, UI Test, Package, and Deploy.
•  Automated Triggers: Webhooks run quality validation on every pull request and commit.
•  Artifact Lifecycle: Successful builds produce versioned, runnable Spring Boot JARs stored in the artifact repository.
•  Quality Gate Enforcement: Pipeline automatically fails and aborts build if any single test fails or coverage drops.</a:t>
            </a:r>
            <a:endParaRPr lang="en-IN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357E1A0-B0A7-8575-1829-BA88D4E61CE6}"/>
              </a:ext>
            </a:extLst>
          </p:cNvPr>
          <p:cNvSpPr/>
          <p:nvPr/>
        </p:nvSpPr>
        <p:spPr>
          <a:xfrm>
            <a:off x="62865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C82DF11-4CC5-6708-31C7-A24D07F0890E}"/>
              </a:ext>
            </a:extLst>
          </p:cNvPr>
          <p:cNvSpPr/>
          <p:nvPr/>
        </p:nvSpPr>
        <p:spPr>
          <a:xfrm>
            <a:off x="6286500" y="1333500"/>
            <a:ext cx="63500" cy="4889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C9865FC-2F2D-E483-8ACF-4715BCFBECBD}"/>
              </a:ext>
            </a:extLst>
          </p:cNvPr>
          <p:cNvSpPr txBox="1"/>
          <p:nvPr/>
        </p:nvSpPr>
        <p:spPr>
          <a:xfrm>
            <a:off x="65405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Multi-Tier Testing Verification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CC56668-6B92-1D63-5898-F0340DA9B631}"/>
              </a:ext>
            </a:extLst>
          </p:cNvPr>
          <p:cNvSpPr txBox="1"/>
          <p:nvPr/>
        </p:nvSpPr>
        <p:spPr>
          <a:xfrm>
            <a:off x="65405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15 JUnit Unit Tests: Validates log ingestion parsers, regex extractors, event categorization, and alert thresholds.
•  Selenium UI Automation: Headless Chrome suite testing end-to-end user login, log search, filter toggling, and export.
•  Defect Injection Validation: Intentionally injected assertions into log parsers to prove the pipeline blocks faulty code.
•  Test Report Publishing: Jenkins automatically archives Surefire XML and Selenium screenshots for audit compliance.</a:t>
            </a:r>
          </a:p>
        </p:txBody>
      </p:sp>
    </p:spTree>
    <p:extLst>
      <p:ext uri="{BB962C8B-B14F-4D97-AF65-F5344CB8AC3E}">
        <p14:creationId xmlns:p14="http://schemas.microsoft.com/office/powerpoint/2010/main" val="122873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6A52D5B-DF26-8DB0-ED57-D4E6C2FB8A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C5CE5A4-65AC-AAF7-B552-CB8D475A0E8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517CC10-F5E4-F7FD-3A3A-EDD7A63D75FD}"/>
              </a:ext>
            </a:extLst>
          </p:cNvPr>
          <p:cNvSpPr/>
          <p:nvPr/>
        </p:nvSpPr>
        <p:spPr>
          <a:xfrm>
            <a:off x="508000" y="304800"/>
            <a:ext cx="2032000" cy="279400"/>
          </a:xfrm>
          <a:prstGeom prst="rect">
            <a:avLst/>
          </a:prstGeom>
          <a:solidFill>
            <a:srgbClr val="E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2563EB"/>
                </a:solidFill>
                <a:latin typeface="Segoe UI" panose="020B0502040204020203" pitchFamily="34" charset="0"/>
              </a:rPr>
              <a:t>CONTAINER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B40A971-C58C-4C8E-55B5-0DD046729352}"/>
              </a:ext>
            </a:extLst>
          </p:cNvPr>
          <p:cNvSpPr txBox="1"/>
          <p:nvPr/>
        </p:nvSpPr>
        <p:spPr>
          <a:xfrm>
            <a:off x="482600" y="635000"/>
            <a:ext cx="9525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200" b="1">
                <a:solidFill>
                  <a:srgbClr val="0F172A"/>
                </a:solidFill>
                <a:latin typeface="Segoe UI" panose="020B0502040204020203" pitchFamily="34" charset="0"/>
              </a:rPr>
              <a:t>Docker Hardening and Cloud-Ready Packaging</a:t>
            </a:r>
            <a:endParaRPr lang="en-IN" sz="2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1E92680-4468-9061-56ED-5A07C437CDA9}"/>
              </a:ext>
            </a:extLst>
          </p:cNvPr>
          <p:cNvSpPr/>
          <p:nvPr/>
        </p:nvSpPr>
        <p:spPr>
          <a:xfrm>
            <a:off x="10922000" y="304800"/>
            <a:ext cx="762000" cy="3048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94A3B8"/>
                </a:solidFill>
                <a:latin typeface="Segoe UI" panose="020B0502040204020203" pitchFamily="34" charset="0"/>
              </a:rPr>
              <a:t>5 /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C76B049-DC02-B555-5B9B-E273CD77D39E}"/>
              </a:ext>
            </a:extLst>
          </p:cNvPr>
          <p:cNvSpPr txBox="1"/>
          <p:nvPr/>
        </p:nvSpPr>
        <p:spPr>
          <a:xfrm>
            <a:off x="508000" y="6477000"/>
            <a:ext cx="1117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DevSecOps Capstone Project | Amogh Kulkarni (23102C0003)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B6CC19C-0F45-F129-6AE1-0874B75CBE92}"/>
              </a:ext>
            </a:extLst>
          </p:cNvPr>
          <p:cNvSpPr/>
          <p:nvPr/>
        </p:nvSpPr>
        <p:spPr>
          <a:xfrm>
            <a:off x="5080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B0EEDAA-4876-AB28-25F0-A7E6C4163B9A}"/>
              </a:ext>
            </a:extLst>
          </p:cNvPr>
          <p:cNvSpPr/>
          <p:nvPr/>
        </p:nvSpPr>
        <p:spPr>
          <a:xfrm>
            <a:off x="508000" y="1333500"/>
            <a:ext cx="63500" cy="48895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D76D9C9-6948-1746-F374-D97AD411DFEB}"/>
              </a:ext>
            </a:extLst>
          </p:cNvPr>
          <p:cNvSpPr txBox="1"/>
          <p:nvPr/>
        </p:nvSpPr>
        <p:spPr>
          <a:xfrm>
            <a:off x="7620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Container Optimization and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BC2274-5A5B-E842-1F71-C33B76CD55B4}"/>
              </a:ext>
            </a:extLst>
          </p:cNvPr>
          <p:cNvSpPr txBox="1"/>
          <p:nvPr/>
        </p:nvSpPr>
        <p:spPr>
          <a:xfrm>
            <a:off x="7620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Multi-Stage Build: Separates Maven compile dependencies from final runtime, achieving an ultra-small 166 MB image.
•  Alpine Linux 3.19 Base: Stripped-down base distribution containing only essential binaries, drastically cutting CVE risks.
•  Layer Caching: Dockerfile structure orders dependencies before source code for rapid incremental rebuilds.
•  Container Networking: Isolated bridge network exposing only port 8080 with strict ingress rules.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147C719-516C-BE26-4F14-6F485D80A31D}"/>
              </a:ext>
            </a:extLst>
          </p:cNvPr>
          <p:cNvSpPr/>
          <p:nvPr/>
        </p:nvSpPr>
        <p:spPr>
          <a:xfrm>
            <a:off x="62865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7BFDE19-1D48-4A45-9FEF-C1EC73C5993F}"/>
              </a:ext>
            </a:extLst>
          </p:cNvPr>
          <p:cNvSpPr/>
          <p:nvPr/>
        </p:nvSpPr>
        <p:spPr>
          <a:xfrm>
            <a:off x="6286500" y="1333500"/>
            <a:ext cx="63500" cy="4889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4282038-E461-8B67-1202-F09D0B60AA63}"/>
              </a:ext>
            </a:extLst>
          </p:cNvPr>
          <p:cNvSpPr txBox="1"/>
          <p:nvPr/>
        </p:nvSpPr>
        <p:spPr>
          <a:xfrm>
            <a:off x="65405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Production Security Hardening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E430BAA-D70C-DA9F-FC04-2C823133E340}"/>
              </a:ext>
            </a:extLst>
          </p:cNvPr>
          <p:cNvSpPr txBox="1"/>
          <p:nvPr/>
        </p:nvSpPr>
        <p:spPr>
          <a:xfrm>
            <a:off x="65405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•  Non-Root User Execution: Enforces appuser:1001 ownership; prevents container escape vulnerabilities.
•  Read-Only Protection: Container filesystem is locked to prevent unauthorized tampering or script injection.
•  Built-in Health Checks: Native Docker HEALTHCHECK probes /actuator/health every 15s to detect hung instances.
•  Zero-Downtime Deployment: Container lifecycle managed with graceful SIGTERM handling and instant container replacement.</a:t>
            </a:r>
            <a:endParaRPr lang="en-IN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64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32EE1A1-B50C-0CAD-6A46-010171BCDC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BD02EC5-4C5C-BE9E-0D11-677E9CA6D06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7738043-2309-B4F4-7096-AAD8E53E7846}"/>
              </a:ext>
            </a:extLst>
          </p:cNvPr>
          <p:cNvSpPr/>
          <p:nvPr/>
        </p:nvSpPr>
        <p:spPr>
          <a:xfrm>
            <a:off x="508000" y="304800"/>
            <a:ext cx="2032000" cy="279400"/>
          </a:xfrm>
          <a:prstGeom prst="rect">
            <a:avLst/>
          </a:prstGeom>
          <a:solidFill>
            <a:srgbClr val="E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2563EB"/>
                </a:solidFill>
                <a:latin typeface="Segoe UI" panose="020B0502040204020203" pitchFamily="34" charset="0"/>
              </a:rPr>
              <a:t>INFRASTRUCTURE AS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6F7D084-6F89-EDF7-B84B-B2AC751F525C}"/>
              </a:ext>
            </a:extLst>
          </p:cNvPr>
          <p:cNvSpPr txBox="1"/>
          <p:nvPr/>
        </p:nvSpPr>
        <p:spPr>
          <a:xfrm>
            <a:off x="482600" y="635000"/>
            <a:ext cx="9525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200" b="1">
                <a:solidFill>
                  <a:srgbClr val="0F172A"/>
                </a:solidFill>
                <a:latin typeface="Segoe UI" panose="020B0502040204020203" pitchFamily="34" charset="0"/>
              </a:rPr>
              <a:t>Ansible Provisioning, Idempotency and Rollback</a:t>
            </a:r>
            <a:endParaRPr lang="en-IN" sz="2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E77F4AA-4B4A-F69C-6051-E277934E4B79}"/>
              </a:ext>
            </a:extLst>
          </p:cNvPr>
          <p:cNvSpPr/>
          <p:nvPr/>
        </p:nvSpPr>
        <p:spPr>
          <a:xfrm>
            <a:off x="10922000" y="304800"/>
            <a:ext cx="762000" cy="3048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94A3B8"/>
                </a:solidFill>
                <a:latin typeface="Segoe UI" panose="020B0502040204020203" pitchFamily="34" charset="0"/>
              </a:rPr>
              <a:t>6 /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D02EE8C-B1A0-53E1-041C-97135E4A571D}"/>
              </a:ext>
            </a:extLst>
          </p:cNvPr>
          <p:cNvSpPr txBox="1"/>
          <p:nvPr/>
        </p:nvSpPr>
        <p:spPr>
          <a:xfrm>
            <a:off x="508000" y="6477000"/>
            <a:ext cx="1117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DevSecOps Capstone Project | Amogh Kulkarni (23102C0003)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8C2A159-3E79-79DD-E372-416915948416}"/>
              </a:ext>
            </a:extLst>
          </p:cNvPr>
          <p:cNvSpPr/>
          <p:nvPr/>
        </p:nvSpPr>
        <p:spPr>
          <a:xfrm>
            <a:off x="5080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9394D06-C2B7-159E-2174-D12DFAEE1BBE}"/>
              </a:ext>
            </a:extLst>
          </p:cNvPr>
          <p:cNvSpPr/>
          <p:nvPr/>
        </p:nvSpPr>
        <p:spPr>
          <a:xfrm>
            <a:off x="508000" y="1333500"/>
            <a:ext cx="63500" cy="48895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4B39D82-0108-3DD2-B285-FD7C9DE480B9}"/>
              </a:ext>
            </a:extLst>
          </p:cNvPr>
          <p:cNvSpPr txBox="1"/>
          <p:nvPr/>
        </p:nvSpPr>
        <p:spPr>
          <a:xfrm>
            <a:off x="7620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Role-Based Declarative Provisioning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E2B8D6A-CCEC-0DFF-B0C2-356A46F31DF1}"/>
              </a:ext>
            </a:extLst>
          </p:cNvPr>
          <p:cNvSpPr txBox="1"/>
          <p:nvPr/>
        </p:nvSpPr>
        <p:spPr>
          <a:xfrm>
            <a:off x="7620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Modular Roles: Dedicated roles for common system packages, Docker runtime, security hardening, and app deployment.
•  Dynamic Templating: Jinja2 templates configure systemd service units, environment files, and logging parameters.
•  Strict Idempotency: Verified by running playbooks consecutively -- second run guarantees changed=0, failed=0.
•  Inventory Abstraction: Staging and Production environments defined cleanly with separate inventory variables.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FAD9A5E-B945-04B5-5C3A-7D47523F4ADA}"/>
              </a:ext>
            </a:extLst>
          </p:cNvPr>
          <p:cNvSpPr/>
          <p:nvPr/>
        </p:nvSpPr>
        <p:spPr>
          <a:xfrm>
            <a:off x="6286500" y="1333500"/>
            <a:ext cx="5397500" cy="488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66B31CD5-6CFF-183B-2F81-764A80EBC102}"/>
              </a:ext>
            </a:extLst>
          </p:cNvPr>
          <p:cNvSpPr/>
          <p:nvPr/>
        </p:nvSpPr>
        <p:spPr>
          <a:xfrm>
            <a:off x="6286500" y="1333500"/>
            <a:ext cx="63500" cy="4889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D9DC6F9-700B-9273-FEAF-D9F2D550C6ED}"/>
              </a:ext>
            </a:extLst>
          </p:cNvPr>
          <p:cNvSpPr txBox="1"/>
          <p:nvPr/>
        </p:nvSpPr>
        <p:spPr>
          <a:xfrm>
            <a:off x="6540500" y="1524000"/>
            <a:ext cx="4953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Segoe UI" panose="020B0502040204020203" pitchFamily="34" charset="0"/>
              </a:rPr>
              <a:t>Disaster Recovery and Viva Takeaways</a:t>
            </a:r>
            <a:endParaRPr lang="en-IN" sz="1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1289618B-B2B1-89DB-DC25-C01D0D13996D}"/>
              </a:ext>
            </a:extLst>
          </p:cNvPr>
          <p:cNvSpPr txBox="1"/>
          <p:nvPr/>
        </p:nvSpPr>
        <p:spPr>
          <a:xfrm>
            <a:off x="6540500" y="1943100"/>
            <a:ext cx="4953000" cy="190821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00">
                <a:solidFill>
                  <a:srgbClr val="334155"/>
                </a:solidFill>
                <a:latin typeface="Segoe UI" panose="020B0502040204020203" pitchFamily="34" charset="0"/>
              </a:rPr>
              <a:t>•  Sub-15s Rollback (RTO under 15s): Automated rollback playbook instantly reverts symlinks to previous stable build.
•  Complete Traceability: Every configuration change is committed to Git, enabling reproducible disaster recovery.
•  Viva Takeaway 1: Demonstrated full DevSecOps loop from source code to tested, hardened, and orchestrated container.
•  Viva Takeaway 2: Zero-drift infrastructure guaranteed through Ansible declarative state management.</a:t>
            </a:r>
          </a:p>
        </p:txBody>
      </p:sp>
    </p:spTree>
    <p:extLst>
      <p:ext uri="{BB962C8B-B14F-4D97-AF65-F5344CB8AC3E}">
        <p14:creationId xmlns:p14="http://schemas.microsoft.com/office/powerpoint/2010/main" val="2181659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366</Words>
  <Application>Microsoft Office PowerPoint</Application>
  <PresentationFormat>Custom</PresentationFormat>
  <Paragraphs>47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K</dc:creator>
  <cp:lastModifiedBy>Sanjay K</cp:lastModifiedBy>
  <cp:revision>2</cp:revision>
  <dcterms:created xsi:type="dcterms:W3CDTF">2026-10-29T05:40:31Z</dcterms:created>
  <dcterms:modified xsi:type="dcterms:W3CDTF">2026-10-29T05:47:29Z</dcterms:modified>
</cp:coreProperties>
</file>